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3d2159257343e6" /><Relationship Type="http://schemas.openxmlformats.org/officeDocument/2006/relationships/extended-properties" Target="/docProps/app.xml" Id="R955e6815d63543c1" /><Relationship Type="http://schemas.openxmlformats.org/officeDocument/2006/relationships/officeDocument" Target="/ppt/presentation.xml" Id="R0e6c4ed28edb4b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6f47aa2b3340b1"/>
  </p:sldMasterIdLst>
  <p:notesMasterIdLst>
    <p:notesMasterId xmlns:r="http://schemas.openxmlformats.org/officeDocument/2006/relationships" r:id="Rf151cccfebcb407a"/>
  </p:notesMasterIdLst>
  <p:sldIdLst>
    <p:sldId xmlns:r="http://schemas.openxmlformats.org/officeDocument/2006/relationships" id="256" r:id="Rc45f0269610644da"/>
    <p:sldId xmlns:r="http://schemas.openxmlformats.org/officeDocument/2006/relationships" id="257" r:id="R2aad276f4e844013"/>
    <p:sldId xmlns:r="http://schemas.openxmlformats.org/officeDocument/2006/relationships" id="258" r:id="R4245b50d1b7e421f"/>
    <p:sldId xmlns:r="http://schemas.openxmlformats.org/officeDocument/2006/relationships" id="259" r:id="Rb8427bf8db324d67"/>
    <p:sldId xmlns:r="http://schemas.openxmlformats.org/officeDocument/2006/relationships" id="260" r:id="R4550100def814ce0"/>
    <p:sldId xmlns:r="http://schemas.openxmlformats.org/officeDocument/2006/relationships" id="261" r:id="R1e0195f0c6244f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77d42cb0744670" /><Relationship Type="http://schemas.openxmlformats.org/officeDocument/2006/relationships/slideMaster" Target="/ppt/slideMasters/slideMaster1.xml" Id="Rb96f47aa2b3340b1" /><Relationship Type="http://schemas.openxmlformats.org/officeDocument/2006/relationships/notesMaster" Target="/ppt/notesMasters/notesMaster1.xml" Id="Rf151cccfebcb407a" /><Relationship Type="http://schemas.openxmlformats.org/officeDocument/2006/relationships/presProps" Target="/ppt/presProps.xml" Id="Rc6e75e2376474fb0" /><Relationship Type="http://schemas.openxmlformats.org/officeDocument/2006/relationships/tableStyles" Target="/ppt/tableStyles.xml" Id="R819e35bba3424eb3" /><Relationship Type="http://schemas.openxmlformats.org/officeDocument/2006/relationships/slide" Target="/ppt/slides/slide1.xml" Id="Rc45f0269610644da" /><Relationship Type="http://schemas.openxmlformats.org/officeDocument/2006/relationships/slide" Target="/ppt/slides/slide2.xml" Id="R2aad276f4e844013" /><Relationship Type="http://schemas.openxmlformats.org/officeDocument/2006/relationships/slide" Target="/ppt/slides/slide3.xml" Id="R4245b50d1b7e421f" /><Relationship Type="http://schemas.openxmlformats.org/officeDocument/2006/relationships/slide" Target="/ppt/slides/slide4.xml" Id="Rb8427bf8db324d67" /><Relationship Type="http://schemas.openxmlformats.org/officeDocument/2006/relationships/slide" Target="/ppt/slides/slide5.xml" Id="R4550100def814ce0" /><Relationship Type="http://schemas.openxmlformats.org/officeDocument/2006/relationships/slide" Target="/ppt/slides/slide6.xml" Id="R1e0195f0c6244f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28ec272aff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cb682008b94416" /><Relationship Type="http://schemas.openxmlformats.org/officeDocument/2006/relationships/notesMaster" Target="/ppt/notesMasters/notesMaster1.xml" Id="Rbd7603e1ebdf45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cb75d6f5fc4ad3" /><Relationship Type="http://schemas.openxmlformats.org/officeDocument/2006/relationships/notesMaster" Target="/ppt/notesMasters/notesMaster1.xml" Id="Rc2c17665abf54f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f2b2a8ded843bb" /><Relationship Type="http://schemas.openxmlformats.org/officeDocument/2006/relationships/notesMaster" Target="/ppt/notesMasters/notesMaster1.xml" Id="R8ebff84da2b24a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74ecbbc8774904" /><Relationship Type="http://schemas.openxmlformats.org/officeDocument/2006/relationships/notesMaster" Target="/ppt/notesMasters/notesMaster1.xml" Id="R453be3297f1740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f0586581a24779" /><Relationship Type="http://schemas.openxmlformats.org/officeDocument/2006/relationships/notesMaster" Target="/ppt/notesMasters/notesMaster1.xml" Id="Rea0251b4e67549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f018f50ef4f39" /><Relationship Type="http://schemas.openxmlformats.org/officeDocument/2006/relationships/notesMaster" Target="/ppt/notesMasters/notesMaster1.xml" Id="R4c1d6fb8eb8b4b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scientific illustration created for this presentation, 2026-08-29.</a:t>
            </a:r>
          </a:p>
          <a:p xmlns:a="http://schemas.openxmlformats.org/drawingml/2006/main">
            <a:r>
              <a:t>- User-provided weekly task status in the current conversation, accessed 2026-08-29.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C:/Users/wx/Desktop/一种基于非对称三支决策的计算机学科主观题自动评分方法及系统-正式初稿.docx, accessed 2026-08-29.</a:t>
            </a:r>
          </a:p>
          <a:p xmlns:a="http://schemas.openxmlformats.org/drawingml/2006/main">
            <a:r>
              <a:t>- C:/Users/wx/Desktop/refgrader-main/results_runs/csbench_q45_12039bfe25ca4168_full/runs/csbench45_full_experimental_glm52_20260825_163432/completion_report.json, generated 2026-08-26.</a:t>
            </a:r>
          </a:p>
          <a:p xmlns:a="http://schemas.openxmlformats.org/drawingml/2006/main">
            <a:r>
              <a:t>- User-provided SAS-Bench run status in the current conversation, accessed 2026-08-29.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C:/Users/wx/Desktop/一种基于非对称三支决策的计算机学科主观题自动评分方法及系统-正式初稿.docx, accessed 2026-08-29.</a:t>
            </a:r>
          </a:p>
          <a:p xmlns:a="http://schemas.openxmlformats.org/drawingml/2006/main">
            <a:r>
              <a:t>- C:/Users/wx/Desktop/refgrader-main/patent/三支决策自动评分专利附图.drawio, accessed 2026-08-29.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C:/Users/wx/Desktop/refgrader-main/results_runs/csbench_q45_12039bfe25ca4168_full/runs/csbench45_full_experimental_glm52_20260825_163432/evaluation/summary.json, generated 2026-08-26.</a:t>
            </a:r>
          </a:p>
          <a:p xmlns:a="http://schemas.openxmlformats.org/drawingml/2006/main">
            <a:r>
              <a:t>- C:/Users/wx/Desktop/refgrader-main/results_runs/csbench_q45_12039bfe25ca4168_full/runs/csbench45_full_experimental_glm52_20260825_163432/completion_report.json, generated 2026-08-26.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the active A3WA configuration was used under an experimental deployment override; report these metrics as experimental rather than deployment-qualified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C:/Users/wx/Desktop/refgrader-main/results_runs/public_benchmarks/mohler_v1/analyses/mohler_acl2011_zero_shot_private_a3wa_v1_statistical/summary.json, generated 2026-08-19.</a:t>
            </a:r>
          </a:p>
          <a:p xmlns:a="http://schemas.openxmlformats.org/drawingml/2006/main">
            <a:r>
              <a:t>- User-provided status that the latest SAS-Bench comparison experiment is currently running, accessed 2026-08-29.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C:/Users/wx/Desktop/refgrader-main/results_runs/csbench_q45_12039bfe25ca4168_full/runs/csbench45_full_experimental_glm52_20260825_163432/evaluation/summary.json, generated 2026-08-26.</a:t>
            </a:r>
          </a:p>
          <a:p xmlns:a="http://schemas.openxmlformats.org/drawingml/2006/main">
            <a:r>
              <a:t>- C:/Users/wx/Desktop/refgrader-main/results_runs/public_benchmarks/mohler_v1/analyses/mohler_acl2011_zero_shot_private_a3wa_v1_statistical/summary.json, generated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2c58136f942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31288526ae470c" /><Relationship Type="http://schemas.openxmlformats.org/officeDocument/2006/relationships/slideLayout" Target="/ppt/slideLayouts/slideLayout1.xml" Id="Rfdca6384cfe54e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a6384cfe54e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4603895954b62" /><Relationship Type="http://schemas.openxmlformats.org/officeDocument/2006/relationships/image" Target="/ppt/media/image.png" Id="Rf10cac71d4614ae4" /><Relationship Type="http://schemas.openxmlformats.org/officeDocument/2006/relationships/notesSlide" Target="/ppt/notesSlides/notesSlide1.xml" Id="R54be739cafcd41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f808d067b43d0" /><Relationship Type="http://schemas.openxmlformats.org/officeDocument/2006/relationships/notesSlide" Target="/ppt/notesSlides/notesSlide2.xml" Id="R464bc80cdb474a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c1465e4534571" /><Relationship Type="http://schemas.openxmlformats.org/officeDocument/2006/relationships/notesSlide" Target="/ppt/notesSlides/notesSlide3.xml" Id="R2452d58f53374f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2e99e85e4464b" /><Relationship Type="http://schemas.openxmlformats.org/officeDocument/2006/relationships/chart" Target="/ppt/slides/charts/chart1.xml" Id="R2fc0433984a2456b" /><Relationship Type="http://schemas.openxmlformats.org/officeDocument/2006/relationships/notesSlide" Target="/ppt/notesSlides/notesSlide4.xml" Id="Ra4199fe7029d48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66440b0534e6c" /><Relationship Type="http://schemas.openxmlformats.org/officeDocument/2006/relationships/notesSlide" Target="/ppt/notesSlides/notesSlide5.xml" Id="R60d4cbdd5de44e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224d5c60a4a70" /><Relationship Type="http://schemas.openxmlformats.org/officeDocument/2006/relationships/notesSlide" Target="/ppt/notesSlides/notesSlide6.xml" Id="R11bdbe5c2c6b473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827"/>
                </a:solidFill>
              </a:rPr>
              <a:t>误差指标对比（越低越好）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827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多探针平均分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General</c:formatCode>
              <c:ptCount val="2"/>
              <c:pt idx="0">
                <c:v>1.4003</c:v>
              </c:pt>
              <c:pt idx="1">
                <c:v>2.3362</c:v>
              </c:pt>
            </c:numLit>
          </c:val>
        </c:ser>
        <c:ser>
          <c:idx val="1"/>
          <c:order val="1"/>
          <c:tx>
            <c:v>三支决策核心分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General</c:formatCode>
              <c:ptCount val="2"/>
              <c:pt idx="0">
                <c:v>1.3481</c:v>
              </c:pt>
              <c:pt idx="1">
                <c:v>2.2787</c:v>
              </c:pt>
            </c:numLit>
          </c:val>
        </c:ser>
        <c:ser>
          <c:idx val="2"/>
          <c:order val="2"/>
          <c:tx>
            <c:v>最终校准分</c:v>
          </c:tx>
          <c:spPr>
            <a:solidFill xmlns:a="http://schemas.openxmlformats.org/drawingml/2006/main">
              <a:srgbClr val="1769E0"/>
            </a:solidFill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General</c:formatCode>
              <c:ptCount val="2"/>
              <c:pt idx="0">
                <c:v>1.254</c:v>
              </c:pt>
              <c:pt idx="1">
                <c:v>2.1905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B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2EDE8-F536-4015-87C3-D831A00C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本周科研工作进展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C4111-57E8-4B33-91A0-B2C44914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</a:defRPr>
            </a:pPr>
            <a:r>
              <a:rPr sz="1875" b="0">
                <a:solidFill>
                  <a:srgbClr val="5B6472"/>
                </a:solidFill>
              </a:rPr>
              <a:t>专利初稿 · 私有数据集实验 · SAS-Bench 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02CCD-A868-4A45-A53D-7A52737F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09B02-C155-473E-B427-EFFFB746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核心进展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12FE5-1F8C-401E-9B64-C73B38B8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572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两项工作已完成</a:t>
            </a:r>
          </a:p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一项外部验证正在运行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C5D17-6E09-4312-A976-0BEBB5A1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汇报日期：2026年8月29日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cac71d4614ae4"/>
          <a:stretch xmlns:a="http://schemas.openxmlformats.org/drawingml/2006/main"/>
        </p:blipFill>
        <p:spPr>
          <a:xfrm xmlns:a="http://schemas.openxmlformats.org/drawingml/2006/main">
            <a:off x="5667375" y="1580239"/>
            <a:ext cx="6096000" cy="34308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64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AFFD9-004C-4CE8-9841-F00EB73B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</a:defRPr>
            </a:pPr>
            <a:r>
              <a:rPr sz="975" b="1">
                <a:solidFill>
                  <a:srgbClr val="1769E0"/>
                </a:solidFill>
              </a:rPr>
              <a:t>本周总览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CE173-0410-4BD1-95A8-6C9E9132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三项任务已形成“2项完成 + 1项进行中”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E1490-8BFA-41CA-8A7D-9CFC6040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0D118-D732-467F-8C26-C4B7D17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8FE95-727C-4D45-9BEF-4B3062D3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CF173-88A5-48EF-B59E-3BECCCFB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2AF70-4F08-46D7-AD40-96973321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97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专利正式初稿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F24E6-84D3-4EBF-8BE1-ACE4E526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</a:defRPr>
            </a:pPr>
            <a:r>
              <a:rPr sz="1350" b="1">
                <a:solidFill>
                  <a:srgbClr val="15803D"/>
                </a:solidFill>
              </a:rPr>
              <a:t>已完成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BABEB-1C88-4C64-82B5-BFD341F2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503CC-5CA1-473F-8FBF-89767256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15F8E-F243-4CC2-BC57-5CEC0337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97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私有数据集全量实验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FA4DE-02EB-422F-82D1-26C3716B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288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</a:defRPr>
            </a:pPr>
            <a:r>
              <a:rPr sz="1350" b="1">
                <a:solidFill>
                  <a:srgbClr val="15803D"/>
                </a:solidFill>
              </a:rPr>
              <a:t>已完成并完成评估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A13E2-238C-41D2-B891-F777214B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1F3D7-1A5D-46A7-A27F-FCE04BEF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135A4-2FDC-473B-841B-D08B14AA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97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SAS-Bench 对比实验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16789-DABE-46D4-A88B-905F7C8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288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正式实验正在运行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D1F58-CDD6-43F3-B844-A38671F7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5B99B-3283-44FE-9622-E0F71C2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B1A42-0C57-4EA8-962D-3200A9C7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52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2C264-A948-4DB2-BDDD-72693FC2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552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5A8F9-5553-4F2D-B773-3440019A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当前阶段的价值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B1CA4-1AE0-4BDF-BBAC-452DBF1E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专利文本已具备导师审阅基础；私有数据集已得到完整的测试集结果；公共基准验证开始检验方法的外部可迁移性。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43B55-B58C-4BF8-9043-20FABF82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FBA7B-6B96-4BCB-BBD2-933F443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996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本周重心已由“流程修复”转向“结果验证与证据固化”。</a:t>
            </a:r>
          </a:p>
        </p:txBody>
      </p:sp>
    </p:spTree>
    <p:extLst>
      <p:ext uri="{BB962C8B-B14F-4D97-AF65-F5344CB8AC3E}">
        <p14:creationId xmlns:p14="http://schemas.microsoft.com/office/powerpoint/2010/main" val="810338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083F7-EF0A-43D5-8CAD-BE00DB7E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</a:defRPr>
            </a:pPr>
            <a:r>
              <a:rPr sz="975" b="1">
                <a:solidFill>
                  <a:srgbClr val="1769E0"/>
                </a:solidFill>
              </a:rPr>
              <a:t>成果一：专利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EA5C2-D2AE-48B4-96B5-D9DE6779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专利初稿已完成，创新点集中于非对称三支决策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AF2CA-FC32-4BB2-B09A-F529053C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9AA01-E625-4A0F-AB6C-1CD7D029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41A9B-FB64-4FAE-87F0-C18145C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600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一种基于非对称三支决策的计算机学科</a:t>
            </a:r>
          </a:p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主观题自动评分方法及系统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B9861-4A29-4A57-B49C-16BF2169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600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围绕计算机学科主观题自动批改流程，形成从答案证据提取、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多探针评分、风险计算到 POS / BND / NEG 分流的完整技术方案。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99D3F-884B-4508-9984-5E6E6371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581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62B85-3CEE-46A3-A67B-F3DB8AC4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核心技术主线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EBD6E-4218-4808-A305-5D3E95AD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525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证据构建 → 多探针评分 → 风险隶属度 → 非对称损失决策 → 受约束输出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A4DA9-4DEB-4FBD-BF1E-7B76B79C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69E0"/>
                </a:solidFill>
              </a:defRPr>
            </a:pPr>
            <a:r>
              <a:rPr sz="3450" b="1">
                <a:solidFill>
                  <a:srgbClr val="1769E0"/>
                </a:solidFill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FF4F8-A5FD-4B93-B4CB-0BC600CE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张说明书附图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覆盖流程、风险、分流与系统组成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56E04-1AC5-440B-BAD6-AE149A1E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57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CBF4"/>
                </a:solidFill>
              </a:defRPr>
            </a:pPr>
            <a:r>
              <a:rPr sz="3450" b="1">
                <a:solidFill>
                  <a:srgbClr val="6DCBF4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C2C24-C3D8-43C4-8C42-690298BC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个正式组成部分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说明书、附图、权利要求、摘要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AE704-21E2-44AD-ACC0-8DD34A7A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880B4-7BAD-4A57-815C-3BA1A4F3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已完成内容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B1F9F-ABCF-4456-870C-3A87C803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4286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01  统一专利名称与技术领域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02  删除测试、审核等中间过渡过程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03  规范步骤编号、公式和缩写首次定义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04  按参考专利重排文档顺序与页眉</a:t>
            </a:r>
          </a:p>
        </p:txBody>
      </p:sp>
    </p:spTree>
    <p:extLst>
      <p:ext uri="{BB962C8B-B14F-4D97-AF65-F5344CB8AC3E}">
        <p14:creationId xmlns:p14="http://schemas.microsoft.com/office/powerpoint/2010/main" val="1603796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624A1-F5B5-4F84-BEC9-6709B88D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</a:defRPr>
            </a:pPr>
            <a:r>
              <a:rPr sz="975" b="1">
                <a:solidFill>
                  <a:srgbClr val="1769E0"/>
                </a:solidFill>
              </a:rPr>
              <a:t>成果二：私有数据集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EA8D1-F3A9-4B87-A225-51ADB5F8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私有测试集全量完成，三支决策核心指标稳定改善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CFD5-074E-4415-8640-6E0D984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50463-D8C9-45A8-B2FE-703B74B4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3D5DD-CEB4-43EC-8831-C0234482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FC9DF-563D-4A56-A1B6-42894D6B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道题目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97131-DA7D-4DBB-B91F-E318BD48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28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2,723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1ED74-EE8D-4354-ABDF-BCB3320E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6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份测试答案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56DF4-911D-4AD8-9514-37FBED35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803D"/>
                </a:solidFill>
              </a:defRPr>
            </a:pPr>
            <a:r>
              <a:rPr sz="2850" b="1">
                <a:solidFill>
                  <a:srgbClr val="15803D"/>
                </a:solidFill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2DEBF-99FD-423A-9E1B-47B16928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66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完成率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72C7E-DE10-4A5C-B3BD-E95765F5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4287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803D"/>
                </a:solidFill>
              </a:defRPr>
            </a:pPr>
            <a:r>
              <a:rPr sz="2850" b="1">
                <a:solidFill>
                  <a:srgbClr val="15803D"/>
                </a:solidFill>
              </a:rPr>
              <a:t>0 /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A8222-9011-48AE-95CE-4830E83A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66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失败 / 缺失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58070-023C-4498-9DA0-3FA5DA1D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测试集按答案级划分；本次采用 raw 样本策略，未排除或修正教师标签。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590550" y="2705100"/>
          <a:ext xmlns:a="http://schemas.openxmlformats.org/drawingml/2006/main" cx="6572250" cy="3133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c0433984a2456b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39917-21BF-48A2-9CBA-FF390A9F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05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三支决策核心贡献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0E0FB-2221-4B82-9182-08F96B62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051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MAE 下降 3.73%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RMSE 下降 2.46%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Pearson：0.9157 → 0.9174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±2分命中率：77.34% → 78.11%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6D206-7C91-49CC-AA00-F094A3F0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33925"/>
            <a:ext cx="385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088D5-6C56-4DD1-8BC7-46CBEE60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39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E0"/>
                </a:solidFill>
              </a:defRPr>
            </a:pPr>
            <a:r>
              <a:rPr sz="1650" b="1">
                <a:solidFill>
                  <a:srgbClr val="1769E0"/>
                </a:solidFill>
              </a:rPr>
              <a:t>最终校准分 MAE = 1.2540</a:t>
            </a:r>
          </a:p>
          <a:p xmlns:a="http://schemas.openxmlformats.org/drawingml/2006/main">
            <a:pPr algn="l">
              <a:defRPr sz="1650" b="1">
                <a:solidFill>
                  <a:srgbClr val="1769E0"/>
                </a:solidFill>
              </a:defRPr>
            </a:pPr>
            <a:r>
              <a:rPr sz="1650" b="1">
                <a:solidFill>
                  <a:srgbClr val="1769E0"/>
                </a:solidFill>
              </a:rPr>
              <a:t>相对平均分下降 10.45%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F2B3C-B5FA-4EC8-9CEB-A48795F9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055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注：最终校准增益不等同于纯三支决策贡献。</a:t>
            </a:r>
          </a:p>
        </p:txBody>
      </p:sp>
    </p:spTree>
    <p:extLst>
      <p:ext uri="{BB962C8B-B14F-4D97-AF65-F5344CB8AC3E}">
        <p14:creationId xmlns:p14="http://schemas.microsoft.com/office/powerpoint/2010/main" val="1551756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E78AF-78E8-465F-AB45-9AF5637A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</a:defRPr>
            </a:pPr>
            <a:r>
              <a:rPr sz="975" b="1">
                <a:solidFill>
                  <a:srgbClr val="1769E0"/>
                </a:solidFill>
              </a:rPr>
              <a:t>成果三：公共基准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0AB02-A35D-4DAA-8C26-8DBC9CB3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SAS-Bench 验证已进入正式运行，阶段性结果支持继续推进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2E812-FB2F-4EB4-B358-2493B8C4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91957-1F81-4D95-ADEE-78950524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6F9E4-D6B5-4914-A76B-81F43027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当前采用 Mohler / ACL 2011 公共短答案数据作为 SAS-Bench 对比基准。最新正式运行尚未结束，因此本页结果为既有可复算分析，不作为最终论文结论。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C399F-2FDA-41DB-9665-0CDC8085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69E0"/>
                </a:solidFill>
              </a:defRPr>
            </a:pPr>
            <a:r>
              <a:rPr sz="3450" b="1">
                <a:solidFill>
                  <a:srgbClr val="1769E0"/>
                </a:solidFill>
              </a:rPr>
              <a:t>2,273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A8B06-19CE-48A9-958D-3F9240C9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份公共答案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7E208-777B-438F-95C1-EB7311AE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95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CBF4"/>
                </a:solidFill>
              </a:defRPr>
            </a:pPr>
            <a:r>
              <a:rPr sz="3450" b="1">
                <a:solidFill>
                  <a:srgbClr val="6DCBF4"/>
                </a:solidFill>
              </a:rPr>
              <a:t>81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9BC55-62F0-4AC9-BA6F-9B8FE1E3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81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道纳入分析的题目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6C2C5-7B5F-4F47-83DC-BFC21800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955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69E0"/>
                </a:solidFill>
              </a:defRPr>
            </a:pPr>
            <a:r>
              <a:rPr sz="3450" b="1">
                <a:solidFill>
                  <a:srgbClr val="1769E0"/>
                </a:solidFill>
              </a:rPr>
              <a:t>10,000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7EE26-3999-4FA1-A962-F24D0297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81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次按题目聚类 Bootstrap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06020-A2DA-44F7-8883-9A151D89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7239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3D50B-468E-4A96-9429-C11E54E7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平均分 → 三支决策核心分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7631B-F5C6-466A-8262-91802BD2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657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MAE 改善 0.00915，95% CI [0.00355, 0.01490]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RMSE 改善 0.00637，95% CI [0.00261, 0.01056]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31题改善 / 39题不变 / 11题下降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4BA65-3B52-4D8D-BF3C-E4C834E0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</a:defRPr>
            </a:pPr>
            <a:r>
              <a:rPr sz="1800" b="1">
                <a:solidFill>
                  <a:srgbClr val="B45309"/>
                </a:solidFill>
              </a:rPr>
              <a:t>结果边界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B7A47-6772-40D7-9929-8036A83C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3048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01  公开档案包含81题，论文报告80题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02  当前方法为零样本外部验证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03  对方方法采用折内监督训练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04  不作严格复现或直接优于原论文的结论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87353-B56E-44EF-B91D-6CDCD288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197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85CEC-6187-4F3C-BD0B-CF8A9E8F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149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E0"/>
                </a:solidFill>
              </a:defRPr>
            </a:pPr>
            <a:r>
              <a:rPr sz="1350" b="1">
                <a:solidFill>
                  <a:srgbClr val="1769E0"/>
                </a:solidFill>
              </a:rPr>
              <a:t>正式结果完成后再统一下结论</a:t>
            </a:r>
          </a:p>
        </p:txBody>
      </p:sp>
    </p:spTree>
    <p:extLst>
      <p:ext uri="{BB962C8B-B14F-4D97-AF65-F5344CB8AC3E}">
        <p14:creationId xmlns:p14="http://schemas.microsoft.com/office/powerpoint/2010/main" val="1745434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C4A18-FD89-4E5E-ABB9-B889014E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</a:defRPr>
            </a:pPr>
            <a:r>
              <a:rPr sz="975" b="1">
                <a:solidFill>
                  <a:srgbClr val="1769E0"/>
                </a:solidFill>
              </a:rPr>
              <a:t>后续安排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62350-A6AE-4F8F-BA31-DDBD3B22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下一步：先固化公共基准结果，再推进论文证据链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5B514-25A6-4D63-925F-B6FF1D9D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09EC4-2788-49F6-8313-168E9FEE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DB7C9-DFCD-4943-A0DE-D17F854A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9E0"/>
                </a:solidFill>
              </a:defRPr>
            </a:pPr>
            <a:r>
              <a:rPr sz="2550" b="1">
                <a:solidFill>
                  <a:srgbClr val="1769E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6268A-FB30-4F51-BF4F-48CF2CFC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19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完成 SAS-Bench 正式运行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01D25-6C01-4B7A-A159-9ADE76C8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00200"/>
            <a:ext cx="621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核对完成率、失败样本、数据划分与运行配置，生成统一评估结果。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449DF-ED44-4D50-8A1A-3C3A3B39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62200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CB235-3484-45D1-8F12-14273C59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BCC4"/>
                </a:solidFill>
              </a:defRPr>
            </a:pPr>
            <a:r>
              <a:rPr sz="2550" b="1">
                <a:solidFill>
                  <a:srgbClr val="B8BCC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45CF4-0B6D-4F21-8260-4611D3EB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860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形成可比较的消融结果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E58DA-A75D-4A8E-8F47-A558A3D4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67000"/>
            <a:ext cx="621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至少比较单探针、平均分、三支决策核心分和最终分，分离各模块贡献。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9C421-CE07-486B-8D94-B3BDDB13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29000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E681C-58E9-4A4F-83D6-EF1E25DE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BCC4"/>
                </a:solidFill>
              </a:defRPr>
            </a:pPr>
            <a:r>
              <a:rPr sz="2550" b="1">
                <a:solidFill>
                  <a:srgbClr val="B8BCC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29938-ECE3-4533-AF3D-78D9AD2E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52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开展统计检验与误差分析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6FBA7-A54C-4B6B-8535-8E7FA6E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33800"/>
            <a:ext cx="621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报告 Bootstrap 置信区间、题目级改善比例，并定位负向题型和标签噪声。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5F908-8FEF-4D50-A6FE-B2F4A730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AA958-DEFD-4610-9A27-6F270361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BCC4"/>
                </a:solidFill>
              </a:defRPr>
            </a:pPr>
            <a:r>
              <a:rPr sz="2550" b="1">
                <a:solidFill>
                  <a:srgbClr val="B8BCC4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79563-F6B4-49AE-AA3E-70AEAE84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19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回填专利与论文材料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43FB5-3821-41E3-BEA5-4428DCD9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00600"/>
            <a:ext cx="621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专利仅采用可复核结果；论文补充公共基准、消融、显著性和典型案例。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C906E-5480-45DF-87B9-FFC690A0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1051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AAEC4-D3E5-4E01-BBB3-7E166C3F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汇报结论：本周完成了成果文本与私有实验闭环，下一关键节点是公共基准正式结果。</a:t>
            </a:r>
          </a:p>
        </p:txBody>
      </p:sp>
    </p:spTree>
    <p:extLst>
      <p:ext uri="{BB962C8B-B14F-4D97-AF65-F5344CB8AC3E}">
        <p14:creationId xmlns:p14="http://schemas.microsoft.com/office/powerpoint/2010/main" val="1890649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2026-08-29T00:33:14.8550000Z</dcterms:created>
  <dcterms:modified xsi:type="dcterms:W3CDTF">2026-08-29T00:33:14.8550000Z</dcterms:modified>
</coreProperties>
</file>
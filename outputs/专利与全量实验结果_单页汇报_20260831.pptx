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d69a7bea484b7e" /><Relationship Type="http://schemas.openxmlformats.org/officeDocument/2006/relationships/extended-properties" Target="/docProps/app.xml" Id="R610fdbe23e95499d" /><Relationship Type="http://schemas.openxmlformats.org/officeDocument/2006/relationships/officeDocument" Target="/ppt/presentation.xml" Id="R517ec27bfce74f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b615492d0346cb"/>
  </p:sldMasterIdLst>
  <p:notesMasterIdLst>
    <p:notesMasterId xmlns:r="http://schemas.openxmlformats.org/officeDocument/2006/relationships" r:id="R28e2893583e04b11"/>
  </p:notesMasterIdLst>
  <p:sldIdLst>
    <p:sldId xmlns:r="http://schemas.openxmlformats.org/officeDocument/2006/relationships" id="256" r:id="Rb40ce7188ceb40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5ecde33ffc4ea9" /><Relationship Type="http://schemas.openxmlformats.org/officeDocument/2006/relationships/slideMaster" Target="/ppt/slideMasters/slideMaster1.xml" Id="R8bb615492d0346cb" /><Relationship Type="http://schemas.openxmlformats.org/officeDocument/2006/relationships/notesMaster" Target="/ppt/notesMasters/notesMaster1.xml" Id="R28e2893583e04b11" /><Relationship Type="http://schemas.openxmlformats.org/officeDocument/2006/relationships/presProps" Target="/ppt/presProps.xml" Id="R3fbe833e707147ab" /><Relationship Type="http://schemas.openxmlformats.org/officeDocument/2006/relationships/tableStyles" Target="/ppt/tableStyles.xml" Id="R5ca74d448507489d" /><Relationship Type="http://schemas.openxmlformats.org/officeDocument/2006/relationships/slide" Target="/ppt/slides/slide1.xml" Id="Rb40ce7188ceb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a49660c8904d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d4991f632a47e8" /><Relationship Type="http://schemas.openxmlformats.org/officeDocument/2006/relationships/notesMaster" Target="/ppt/notesMasters/notesMaster1.xml" Id="R21e843e26fbe45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C:/Users/wx/Desktop/一种基于非对称三支决策的计算机学科主观题自动评分方法及系统-正式初稿.docx, accessed 2026-08-31.</a:t>
            </a:r>
          </a:p>
          <a:p xmlns:a="http://schemas.openxmlformats.org/drawingml/2006/main">
            <a:r>
              <a:t>- C:/Users/wx/Desktop/refgrader-main/results_runs/csbench_q45_12039bfe25ca4168_full/runs/csbench45_full_experimental_glm52_20260825_163432/run_state.json, accessed 2026-08-31.</a:t>
            </a:r>
          </a:p>
          <a:p xmlns:a="http://schemas.openxmlformats.org/drawingml/2006/main">
            <a:r>
              <a:t>- C:/Users/wx/Desktop/refgrader-main/results_runs/csbench_q45_12039bfe25ca4168_full/runs/csbench45_full_experimental_glm52_20260825_163432/completion_report.json, generated 2026-08-26.</a:t>
            </a:r>
          </a:p>
          <a:p xmlns:a="http://schemas.openxmlformats.org/drawingml/2006/main">
            <a:r>
              <a:t>- C:/Users/wx/Desktop/refgrader-main/results_runs/csbench_q45_12039bfe25ca4168_full/runs/csbench45_full_experimental_glm52_20260825_163432/evaluation/summary.json, generated 2026-08-26.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the run used the test answer split, raw sample-quality policy, optimized rubrics, GLM-5.2 with thinking disabled, GLM-4.6V, csbench_hybrid extraction, and an experimental A3WA override.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11d1c81c545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845df92a8c43cd" /><Relationship Type="http://schemas.openxmlformats.org/officeDocument/2006/relationships/slideLayout" Target="/ppt/slideLayouts/slideLayout1.xml" Id="Reb5739e2ba7445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5739e2ba7445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46b9e9368492b" /><Relationship Type="http://schemas.openxmlformats.org/officeDocument/2006/relationships/notesSlide" Target="/ppt/notesSlides/notesSlide1.xml" Id="R52b76267511848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E8D65-8749-4B8E-B25E-FCC611D3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专利方案与私有数据集全量实验结果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F7BB6-01D5-46AB-893C-E772DE3C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基于非对称三支决策的计算机学科主观题自动评分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4E5E4-FC0B-4B66-9E22-0E141157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2026.08.31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B8A26-77E4-4662-A9D6-EAA82C8A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A2EF4-6217-472C-8685-7F967ED2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E0"/>
                </a:solidFill>
              </a:defRPr>
            </a:pPr>
            <a:r>
              <a:rPr sz="1725" b="1">
                <a:solidFill>
                  <a:srgbClr val="1769E0"/>
                </a:solidFill>
              </a:rPr>
              <a:t>专利方案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1B6ED-B091-4813-AFD1-FDF6BB78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4048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一种基于非对称三支决策的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计算机学科主观题自动评分方法及系统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1CBB0-78E5-4615-BBF5-9ED568F6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4048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针对主观题评分中证据不足、模型分歧和高风险误判问题，构建可解释的自动批改与风险分流机制。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F12E3-817B-4A73-A917-6962ED87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40481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1B5D6-9F30-4344-9A98-B302CBA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590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9E0"/>
                </a:solidFill>
              </a:defRPr>
            </a:pPr>
            <a:r>
              <a:rPr sz="1425" b="1">
                <a:solidFill>
                  <a:srgbClr val="1769E0"/>
                </a:solidFill>
              </a:rPr>
              <a:t>证据评分 → 风险计算 → 三域决策</a:t>
            </a:r>
          </a:p>
          <a:p xmlns:a="http://schemas.openxmlformats.org/drawingml/2006/main">
            <a:pPr algn="l">
              <a:defRPr sz="1425" b="1">
                <a:solidFill>
                  <a:srgbClr val="1769E0"/>
                </a:solidFill>
              </a:defRPr>
            </a:pPr>
            <a:r>
              <a:rPr sz="1425" b="1">
                <a:solidFill>
                  <a:srgbClr val="1769E0"/>
                </a:solidFill>
              </a:rPr>
              <a:t>POS 接受｜BND 边界处理｜NEG 拒绝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96FD4-8AA9-4FE9-94C3-7CA8EF1F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607F0-9B19-4A8B-96D3-895C9308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38195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创新重点：利用风险隶属度和非对称损失，使不确定答案进入边界域，而不是直接给出高风险分数。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4A19F-69CF-4515-8C58-2F28AD2C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09700"/>
            <a:ext cx="9525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87B46-E937-4251-879E-799FC3BC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09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E0"/>
                </a:solidFill>
              </a:defRPr>
            </a:pPr>
            <a:r>
              <a:rPr sz="1725" b="1">
                <a:solidFill>
                  <a:srgbClr val="1769E0"/>
                </a:solidFill>
              </a:rPr>
              <a:t>全量实验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D0383-CA34-49E9-B1F4-F729A0BC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28800"/>
            <a:ext cx="636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45题  ·  2,723份测试答案  ·  完成率100%  ·  0失败/0缺失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EFB44-39DA-40A9-AC06-208F3928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模型：GLM-5.2 + GLM-4.6V     评分：3次语义探针 + 优化后Rubric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D4788-586D-48A0-8F08-6C50E927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划分：test     提取：csbench_hybrid     决策：实验性A3WA配置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07475-4796-464D-9433-4C5CC386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E0"/>
                </a:solidFill>
              </a:defRPr>
            </a:pPr>
            <a:r>
              <a:rPr sz="1725" b="1">
                <a:solidFill>
                  <a:srgbClr val="1769E0"/>
                </a:solidFill>
              </a:rPr>
              <a:t>全量测试结果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04310-028F-4692-B394-40628505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误差指标越低越好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143500" y="3276600"/>
          <a:ext xmlns:a="http://schemas.openxmlformats.org/drawingml/2006/main" cx="6362700" cy="26289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981200"/>
                <a:gridCol w="1000125"/>
                <a:gridCol w="1000125"/>
                <a:gridCol w="1143000"/>
                <a:gridCol w="1238250"/>
              </a:tblGrid>
              <a:tr h="438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评分方式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76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76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76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Pearson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76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±2分命中率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769E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单探针评分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1.4728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2.4785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0.9048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77.97%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多探针平均分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1.4003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2.3362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0.9157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77.34%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F2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选定基线分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1.3923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2.3281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0.9162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77.49%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69E0"/>
                          </a:solidFill>
                        </a:rPr>
                        <a:t>三支决策核心分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69E0"/>
                          </a:solidFill>
                        </a:rPr>
                        <a:t>1.3481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69E0"/>
                          </a:solidFill>
                        </a:rPr>
                        <a:t>2.2787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69E0"/>
                          </a:solidFill>
                        </a:rPr>
                        <a:t>0.9174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69E0"/>
                          </a:solidFill>
                        </a:rPr>
                        <a:t>78.11%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B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最终校准分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AA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1.2540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AA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2.1905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AA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0.9195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AA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79.36%</a:t>
                      </a:r>
                    </a:p>
                  </a:txBody>
                  <a:tcPr marL="47625" marR="47625" marT="28575" marB="28575" anchor="ctr">
                    <a:lnL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>
                      <a:solidFill>
                        <a:srgbClr val="BFD8F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AAEF4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39D97-F69D-451B-9623-4ECB595A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038850"/>
            <a:ext cx="636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3E034-EBB4-4D3A-85C2-44E75C03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105525"/>
            <a:ext cx="598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三支决策核心分较平均分：MAE下降3.73%，RMSE下降2.46%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3D6BF-86E7-4081-AB08-16913309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01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45309"/>
                </a:solidFill>
              </a:defRPr>
            </a:pPr>
            <a:r>
              <a:rPr sz="900" b="0">
                <a:solidFill>
                  <a:srgbClr val="B45309"/>
                </a:solidFill>
              </a:rPr>
              <a:t>注：最终校准结果包含后续校准贡献；本次A3WA配置仍按实验性结果表述。</a:t>
            </a:r>
          </a:p>
        </p:txBody>
      </p:sp>
    </p:spTree>
    <p:extLst>
      <p:ext uri="{BB962C8B-B14F-4D97-AF65-F5344CB8AC3E}">
        <p14:creationId xmlns:p14="http://schemas.microsoft.com/office/powerpoint/2010/main" val="941987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2026-08-31T02:52:21.3370000Z</dcterms:created>
  <dcterms:modified xsi:type="dcterms:W3CDTF">2026-08-31T02:52:21.3370000Z</dcterms:modified>
</coreProperties>
</file>